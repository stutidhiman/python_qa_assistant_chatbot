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541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tutiDhiman/Python_QA_Assistant_ChatB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A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Q&amp;A Assistant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00C8A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02996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Vidhya  •  AI Engineer Assessment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1E3252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8346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
</a:t>
            </a:r>
            <a:r>
              <a:rPr lang="en-US" sz="12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•  LangChain  •  FAISS  •  Groq  •  Streamlit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2011680"/>
            <a:ext cx="3383280" cy="2560320"/>
          </a:xfrm>
          <a:prstGeom prst="roundRect">
            <a:avLst>
              <a:gd name="adj" fmla="val 2857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2487168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 Python Q&amp;A assistant using Retrieval-Augmented Generation (RAG) to deliver grounded, accurate answers from Stack Overflow data.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AI Engineer Assessment  | 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00C8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01168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Vidhya aims to build AI-native learning tools for data science learners — enabling faster, smarter knowledge discovery.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86868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0515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291840" y="201168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learners often struggle to find accurate, relevant answers quickly. Existing resources are scattered and hard to navigate.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80760" y="86868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0515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7220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172200" y="201168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that: understands Python questions, retrieves relevant Stack Overflow discussions, generates grounded answers, and exposes via REST API.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00C8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1E325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Python Questions &amp; Answers  |  Kaggle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54480"/>
          <a:ext cx="4572000" cy="1828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User-submitted questions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/ Community Answers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Tags &amp; Categories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166360" y="155448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57800" y="1645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600K+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257800" y="2148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155448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32320" y="1645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900K+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132320" y="2148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166360" y="278892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257800" y="2880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257800" y="3383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Data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040880" y="2788920"/>
            <a:ext cx="1691640" cy="1051560"/>
          </a:xfrm>
          <a:prstGeom prst="roundRect">
            <a:avLst>
              <a:gd name="adj" fmla="val 8696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132320" y="2880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132320" y="3383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0040" y="37947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Characteristics: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developer discussions, Python-focused knowledge base.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00C8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0" y="960120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0240" y="1417320"/>
            <a:ext cx="0" cy="210312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20040" y="1627632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719072"/>
            <a:ext cx="109728" cy="109728"/>
          </a:xfrm>
          <a:prstGeom prst="ellipse">
            <a:avLst/>
          </a:prstGeom>
          <a:solidFill>
            <a:srgbClr val="00C8A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27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20240" y="2176272"/>
            <a:ext cx="0" cy="210312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20040" y="2386584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47802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865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Retriever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20240" y="2935224"/>
            <a:ext cx="0" cy="210312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20040" y="3145536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3236976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455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StackOverflow KB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920240" y="3694176"/>
            <a:ext cx="0" cy="210312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20040" y="3904488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9959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044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3200400" cy="365760"/>
          </a:xfrm>
          <a:prstGeom prst="roundRect">
            <a:avLst>
              <a:gd name="adj" fmla="val 12500"/>
            </a:avLst>
          </a:prstGeom>
          <a:solidFill>
            <a:srgbClr val="00C8AA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 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868680"/>
            <a:ext cx="4937760" cy="4160520"/>
          </a:xfrm>
          <a:prstGeom prst="roundRect">
            <a:avLst>
              <a:gd name="adj" fmla="val 2198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14800" y="960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23360" y="1508760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E3252"/>
          </a:solidFill>
          <a:ln/>
        </p:spPr>
      </p:sp>
      <p:sp>
        <p:nvSpPr>
          <p:cNvPr id="29" name="Text 27"/>
          <p:cNvSpPr/>
          <p:nvPr/>
        </p:nvSpPr>
        <p:spPr>
          <a:xfrm>
            <a:off x="4160520" y="1508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023360" y="2057400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E3252"/>
          </a:solidFill>
          <a:ln/>
        </p:spPr>
      </p:sp>
      <p:sp>
        <p:nvSpPr>
          <p:cNvPr id="31" name="Text 29"/>
          <p:cNvSpPr/>
          <p:nvPr/>
        </p:nvSpPr>
        <p:spPr>
          <a:xfrm>
            <a:off x="4160520" y="2057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23360" y="2606040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E3252"/>
          </a:solidFill>
          <a:ln/>
        </p:spPr>
      </p:sp>
      <p:sp>
        <p:nvSpPr>
          <p:cNvPr id="33" name="Text 31"/>
          <p:cNvSpPr/>
          <p:nvPr/>
        </p:nvSpPr>
        <p:spPr>
          <a:xfrm>
            <a:off x="4160520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Store: 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23360" y="3154680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E3252"/>
          </a:solidFill>
          <a:ln/>
        </p:spPr>
      </p:sp>
      <p:sp>
        <p:nvSpPr>
          <p:cNvPr id="35" name="Text 33"/>
          <p:cNvSpPr/>
          <p:nvPr/>
        </p:nvSpPr>
        <p:spPr>
          <a:xfrm>
            <a:off x="4160520" y="3154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(all-MiniLM-L6-v2)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23360" y="3703320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E3252"/>
          </a:solidFill>
          <a:ln/>
        </p:spPr>
      </p:sp>
      <p:sp>
        <p:nvSpPr>
          <p:cNvPr id="37" name="Text 35"/>
          <p:cNvSpPr/>
          <p:nvPr/>
        </p:nvSpPr>
        <p:spPr>
          <a:xfrm>
            <a:off x="4160520" y="3703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via Groq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023360" y="4251960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E3252"/>
          </a:solidFill>
          <a:ln/>
        </p:spPr>
      </p:sp>
      <p:sp>
        <p:nvSpPr>
          <p:cNvPr id="39" name="Text 37"/>
          <p:cNvSpPr/>
          <p:nvPr/>
        </p:nvSpPr>
        <p:spPr>
          <a:xfrm>
            <a:off x="4160520" y="4251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Workflow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41832"/>
            <a:ext cx="8412480" cy="0"/>
          </a:xfrm>
          <a:prstGeom prst="line">
            <a:avLst/>
          </a:prstGeom>
          <a:noFill/>
          <a:ln w="19050">
            <a:solidFill>
              <a:srgbClr val="00C8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1600200" cy="2926080"/>
          </a:xfrm>
          <a:prstGeom prst="roundRect">
            <a:avLst>
              <a:gd name="adj" fmla="val 5714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188720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856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13432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Python question via Streamlit or API endpoint.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2514600"/>
            <a:ext cx="118872" cy="0"/>
          </a:xfrm>
          <a:prstGeom prst="line">
            <a:avLst/>
          </a:prstGeom>
          <a:noFill/>
          <a:ln w="19050">
            <a:solidFill>
              <a:srgbClr val="00C8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9112" y="1051560"/>
            <a:ext cx="1600200" cy="2926080"/>
          </a:xfrm>
          <a:prstGeom prst="roundRect">
            <a:avLst>
              <a:gd name="adj" fmla="val 5714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188720"/>
            <a:ext cx="548640" cy="548640"/>
          </a:xfrm>
          <a:prstGeom prst="ellipse">
            <a:avLst/>
          </a:prstGeom>
          <a:solidFill>
            <a:srgbClr val="00C8AA"/>
          </a:solidFill>
          <a:ln/>
        </p:spPr>
      </p:sp>
      <p:sp>
        <p:nvSpPr>
          <p:cNvPr id="14" name="Text 12"/>
          <p:cNvSpPr/>
          <p:nvPr/>
        </p:nvSpPr>
        <p:spPr>
          <a:xfrm>
            <a:off x="254203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30552" y="1856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30552" y="2313432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converted to dense vector using MiniLM embeddings.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39312" y="2514600"/>
            <a:ext cx="118872" cy="0"/>
          </a:xfrm>
          <a:prstGeom prst="line">
            <a:avLst/>
          </a:prstGeom>
          <a:noFill/>
          <a:ln w="19050">
            <a:solidFill>
              <a:srgbClr val="00C8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58184" y="1051560"/>
            <a:ext cx="1600200" cy="2926080"/>
          </a:xfrm>
          <a:prstGeom prst="roundRect">
            <a:avLst>
              <a:gd name="adj" fmla="val 5714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61104" y="11887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261104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9624" y="1856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9624" y="2313432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retrieves Top-K most relevant Stack Overflow documents.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58384" y="2514600"/>
            <a:ext cx="118872" cy="0"/>
          </a:xfrm>
          <a:prstGeom prst="line">
            <a:avLst/>
          </a:prstGeom>
          <a:noFill/>
          <a:ln w="19050">
            <a:solidFill>
              <a:srgbClr val="00C8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77256" y="1051560"/>
            <a:ext cx="1600200" cy="2926080"/>
          </a:xfrm>
          <a:prstGeom prst="roundRect">
            <a:avLst>
              <a:gd name="adj" fmla="val 5714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0176" y="118872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5980176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68696" y="1856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68696" y="2313432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context is appended to the prompt for the LLM.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77456" y="2514600"/>
            <a:ext cx="118872" cy="0"/>
          </a:xfrm>
          <a:prstGeom prst="line">
            <a:avLst/>
          </a:prstGeom>
          <a:noFill/>
          <a:ln w="19050">
            <a:solidFill>
              <a:srgbClr val="00C8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96328" y="1051560"/>
            <a:ext cx="1600200" cy="2926080"/>
          </a:xfrm>
          <a:prstGeom prst="roundRect">
            <a:avLst>
              <a:gd name="adj" fmla="val 5714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99248" y="118872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7699248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87768" y="1856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87768" y="2313432"/>
            <a:ext cx="1417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generates a grounded, factual answer.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1148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1E3252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4114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Reduced hallucinations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0" y="41148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1E3252"/>
          </a:solidFill>
          <a:ln/>
        </p:spPr>
      </p:sp>
      <p:sp>
        <p:nvSpPr>
          <p:cNvPr id="38" name="Text 36"/>
          <p:cNvSpPr/>
          <p:nvPr/>
        </p:nvSpPr>
        <p:spPr>
          <a:xfrm>
            <a:off x="3291840" y="4114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Better factual accuracy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80760" y="41148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1E3252"/>
          </a:solidFill>
          <a:ln/>
        </p:spPr>
      </p:sp>
      <p:sp>
        <p:nvSpPr>
          <p:cNvPr id="40" name="Text 38"/>
          <p:cNvSpPr/>
          <p:nvPr/>
        </p:nvSpPr>
        <p:spPr>
          <a:xfrm>
            <a:off x="6172200" y="4114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Source-grounded responses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00C8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0C8A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097280"/>
            <a:ext cx="2743200" cy="228600"/>
          </a:xfrm>
          <a:prstGeom prst="rect">
            <a:avLst/>
          </a:prstGeom>
          <a:solidFill>
            <a:srgbClr val="00C8A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22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— Health check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848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/ask — Main Q&amp;A endpoint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7066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request handling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3284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data validation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950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middleware enabled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82296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82296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38BDF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1097280"/>
            <a:ext cx="2743200" cy="228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822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1463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— Facebook AI Similarity Search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0848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 embeddings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7066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3284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cosine similarity search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950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index — fast inference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822960"/>
            <a:ext cx="2560320" cy="4023360"/>
          </a:xfrm>
          <a:prstGeom prst="roundRect">
            <a:avLst>
              <a:gd name="adj" fmla="val 3571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8229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6172200" y="1097280"/>
            <a:ext cx="256032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822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Streamlit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Chat-style interface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084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management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27066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3284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 display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3950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00C8A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5029200" cy="39776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PDF to JPEG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Correct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CI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Correct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cx_Oracle Iteration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Correct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 Lookup macOS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Correct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a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Correct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Comprehension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Correct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Correct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 vs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Correct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822960"/>
            <a:ext cx="3154680" cy="1051560"/>
          </a:xfrm>
          <a:prstGeom prst="roundRect">
            <a:avLst>
              <a:gd name="adj" fmla="val 8696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23560" y="8412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3200" dirty="0"/>
          </a:p>
        </p:txBody>
      </p:sp>
      <p:sp>
        <p:nvSpPr>
          <p:cNvPr id="5" name="Text 5"/>
          <p:cNvSpPr/>
          <p:nvPr/>
        </p:nvSpPr>
        <p:spPr>
          <a:xfrm>
            <a:off x="5623560" y="14356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Responses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2011680"/>
            <a:ext cx="3154680" cy="777240"/>
          </a:xfrm>
          <a:prstGeom prst="roundRect">
            <a:avLst>
              <a:gd name="adj" fmla="val 11765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23560" y="20299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62356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Test Set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2926080"/>
            <a:ext cx="3154680" cy="1828800"/>
          </a:xfrm>
          <a:prstGeom prst="roundRect">
            <a:avLst>
              <a:gd name="adj" fmla="val 5000"/>
            </a:avLst>
          </a:prstGeom>
          <a:solidFill>
            <a:srgbClr val="1E3252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15000" y="3017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0" y="3364992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responses were grounded and relevant when similar Stack Overflow discussions existed in the vector database.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00C8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896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2618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600K+ questions required efficient chunking, batching, and indexing strategy to avoid memory overflows during FAISS index creation.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2121408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4144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selection directly affects final answer quality. Choosing optimal Top-K and reranking strategies was critical.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" y="3419856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39896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05840" y="38587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Retrieval + Generation pipeline adds latency. Async FastAPI and Groq's fast inference helped minimize response time.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617720" y="8046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17720" y="82296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1430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03520" y="896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&gt; Vanilla LLM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303520" y="12618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significantly improves factual grounding and reduces hallucinations compared to zero-shot prompting.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617720" y="2121408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441448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0352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Impact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303520" y="2560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quality directly impacts answer quality — embedding model choice is as important as the LLM itself.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100+ Concurrent Users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00C8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1600200" cy="4023360"/>
          </a:xfrm>
          <a:prstGeom prst="roundRect">
            <a:avLst>
              <a:gd name="adj" fmla="val 5714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41248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0C8A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115568"/>
            <a:ext cx="1600200" cy="182880"/>
          </a:xfrm>
          <a:prstGeom prst="rect">
            <a:avLst/>
          </a:prstGeom>
          <a:solidFill>
            <a:srgbClr val="00C8AA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841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FastAPI (non-blocking)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999232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queuing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80390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39112" y="841248"/>
            <a:ext cx="1600200" cy="4023360"/>
          </a:xfrm>
          <a:prstGeom prst="roundRect">
            <a:avLst>
              <a:gd name="adj" fmla="val 5714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39112" y="841248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2039112" y="1115568"/>
            <a:ext cx="1600200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2112264" y="841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30552" y="138988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/ Pinecone (cloud)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30552" y="219456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FAISS shards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30552" y="2999232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NN search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30552" y="380390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caching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58184" y="841248"/>
            <a:ext cx="1600200" cy="4023360"/>
          </a:xfrm>
          <a:prstGeom prst="roundRect">
            <a:avLst>
              <a:gd name="adj" fmla="val 5714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58184" y="841248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3758184" y="1115568"/>
            <a:ext cx="16002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831336" y="841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9624" y="138988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9624" y="219456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ECS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9624" y="2999232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auto-scaling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9624" y="380390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(ALB)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77256" y="841248"/>
            <a:ext cx="1600200" cy="4023360"/>
          </a:xfrm>
          <a:prstGeom prst="roundRect">
            <a:avLst>
              <a:gd name="adj" fmla="val 5714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77256" y="841248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31" name="Shape 29"/>
          <p:cNvSpPr/>
          <p:nvPr/>
        </p:nvSpPr>
        <p:spPr>
          <a:xfrm>
            <a:off x="5477256" y="1115568"/>
            <a:ext cx="1600200" cy="1828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5550408" y="841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68696" y="138988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68696" y="219456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metrics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68696" y="2999232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68696" y="380390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dashboards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96328" y="841248"/>
            <a:ext cx="1600200" cy="4023360"/>
          </a:xfrm>
          <a:prstGeom prst="roundRect">
            <a:avLst>
              <a:gd name="adj" fmla="val 5714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96328" y="841248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7196328" y="1115568"/>
            <a:ext cx="160020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7269480" y="841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87768" y="138988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result caching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87768" y="219456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reuse (Redis)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87768" y="2999232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287768" y="380390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Resources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00C8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3622040" cy="1280160"/>
          </a:xfrm>
          <a:prstGeom prst="roundRect">
            <a:avLst>
              <a:gd name="adj" fmla="val 7143"/>
            </a:avLst>
          </a:prstGeom>
          <a:solidFill>
            <a:srgbClr val="1A2740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05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1389888"/>
            <a:ext cx="268562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IN" sz="1000" dirty="0" err="1">
                <a:hlinkClick r:id="rId4"/>
              </a:rPr>
              <a:t>StutiDhiman</a:t>
            </a:r>
            <a:r>
              <a:rPr lang="en-IN" sz="1000" dirty="0">
                <a:hlinkClick r:id="rId4"/>
              </a:rPr>
              <a:t>/</a:t>
            </a:r>
            <a:r>
              <a:rPr lang="en-IN" sz="1000" dirty="0" err="1">
                <a:hlinkClick r:id="rId4"/>
              </a:rPr>
              <a:t>Python_QA_AssistanChatBot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886200" y="1005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886200" y="13898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766560" y="1005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766560" y="13898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2004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320040" y="2724912"/>
            <a:ext cx="4754880" cy="402336"/>
          </a:xfrm>
          <a:prstGeom prst="roundRect">
            <a:avLst>
              <a:gd name="adj" fmla="val 15909"/>
            </a:avLst>
          </a:prstGeom>
          <a:solidFill>
            <a:srgbClr val="1A2740"/>
          </a:solidFill>
          <a:ln/>
        </p:spPr>
      </p:sp>
      <p:sp>
        <p:nvSpPr>
          <p:cNvPr id="19" name="Text 14"/>
          <p:cNvSpPr/>
          <p:nvPr/>
        </p:nvSpPr>
        <p:spPr>
          <a:xfrm>
            <a:off x="457200" y="272491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RAG Pipeline — End-to-end retrieval augmented generation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20040" y="3200400"/>
            <a:ext cx="4754880" cy="402336"/>
          </a:xfrm>
          <a:prstGeom prst="roundRect">
            <a:avLst>
              <a:gd name="adj" fmla="val 15909"/>
            </a:avLst>
          </a:prstGeom>
          <a:solidFill>
            <a:srgbClr val="1A2740"/>
          </a:solidFill>
          <a:ln/>
        </p:spPr>
      </p:sp>
      <p:sp>
        <p:nvSpPr>
          <p:cNvPr id="21" name="Text 16"/>
          <p:cNvSpPr/>
          <p:nvPr/>
        </p:nvSpPr>
        <p:spPr>
          <a:xfrm>
            <a:off x="457200" y="320040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FastAPI Backend — REST API with /health and /ask endpoints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20040" y="3675888"/>
            <a:ext cx="4754880" cy="402336"/>
          </a:xfrm>
          <a:prstGeom prst="roundRect">
            <a:avLst>
              <a:gd name="adj" fmla="val 15909"/>
            </a:avLst>
          </a:prstGeom>
          <a:solidFill>
            <a:srgbClr val="1A2740"/>
          </a:solidFill>
          <a:ln/>
        </p:spPr>
      </p:sp>
      <p:sp>
        <p:nvSpPr>
          <p:cNvPr id="23" name="Text 18"/>
          <p:cNvSpPr/>
          <p:nvPr/>
        </p:nvSpPr>
        <p:spPr>
          <a:xfrm>
            <a:off x="457200" y="367588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Streamlit Frontend — Interactive chat-style interface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20040" y="4151376"/>
            <a:ext cx="4754880" cy="402336"/>
          </a:xfrm>
          <a:prstGeom prst="roundRect">
            <a:avLst>
              <a:gd name="adj" fmla="val 15909"/>
            </a:avLst>
          </a:prstGeom>
          <a:solidFill>
            <a:srgbClr val="1A2740"/>
          </a:solidFill>
          <a:ln/>
        </p:spPr>
      </p:sp>
      <p:sp>
        <p:nvSpPr>
          <p:cNvPr id="25" name="Text 20"/>
          <p:cNvSpPr/>
          <p:nvPr/>
        </p:nvSpPr>
        <p:spPr>
          <a:xfrm>
            <a:off x="457200" y="415137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Testing — 8/8 accurate query responses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20040" y="4626864"/>
            <a:ext cx="4754880" cy="402336"/>
          </a:xfrm>
          <a:prstGeom prst="roundRect">
            <a:avLst>
              <a:gd name="adj" fmla="val 15909"/>
            </a:avLst>
          </a:prstGeom>
          <a:solidFill>
            <a:srgbClr val="1A2740"/>
          </a:solidFill>
          <a:ln/>
        </p:spPr>
      </p:sp>
      <p:sp>
        <p:nvSpPr>
          <p:cNvPr id="27" name="Text 22"/>
          <p:cNvSpPr/>
          <p:nvPr/>
        </p:nvSpPr>
        <p:spPr>
          <a:xfrm>
            <a:off x="457200" y="462686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Grounded Answers — Reduced hallucinations via retrieval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303520" y="228600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00C8AA"/>
          </a:solidFill>
          <a:ln/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5349240" y="24688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30" name="Text 25"/>
          <p:cNvSpPr/>
          <p:nvPr/>
        </p:nvSpPr>
        <p:spPr>
          <a:xfrm>
            <a:off x="5349240" y="32004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5349240" y="37490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Assessment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Vidhya  |  2024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708</Words>
  <Application>Microsoft Office PowerPoint</Application>
  <PresentationFormat>On-screen Show (16:9)</PresentationFormat>
  <Paragraphs>172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Aradhya Kumar</cp:lastModifiedBy>
  <cp:revision>5</cp:revision>
  <dcterms:created xsi:type="dcterms:W3CDTF">2026-06-12T18:22:33Z</dcterms:created>
  <dcterms:modified xsi:type="dcterms:W3CDTF">2026-06-14T09:56:15Z</dcterms:modified>
</cp:coreProperties>
</file>